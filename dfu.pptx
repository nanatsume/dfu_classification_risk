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2" r:id="rId4"/>
    <p:sldId id="261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7DC9-E85B-1E47-AF81-59AA76BD4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DE021-2414-2F71-B94E-1DA6D386F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9981E-82E7-B0D6-1848-B00AAF391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D6A2-D5DE-4F01-98AB-687AA1F19E50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9FCBA-2E0A-097A-EA2E-0379A73DA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FA707-301C-07CA-2E21-520C753B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4BA-9761-4B72-BA9D-1B86F91D3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8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FF50-BDDF-A4DC-833D-737B13402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7E562-2873-5049-3C57-1F57BF686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D8F48-34D6-F76E-738B-CA5C20A2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D6A2-D5DE-4F01-98AB-687AA1F19E50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0DB45-20D7-953C-6B18-7AD4E5AA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F3B8-44E7-6E83-CC13-B5FD30E8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4BA-9761-4B72-BA9D-1B86F91D3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98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FD570-F577-3173-56C2-E7D8CF55F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63FB0-7DCE-DA2E-3540-D098A10CF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F44E4-F835-8580-EC73-486F69E6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D6A2-D5DE-4F01-98AB-687AA1F19E50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D1AD1-333A-25DB-2634-672BB215A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70A1-2BA9-7205-B41E-DFE9F109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4BA-9761-4B72-BA9D-1B86F91D3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11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D6112-D586-7C4B-DC7B-A09089255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3CDB1-781B-B353-E81C-F21689B68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1E878-86E0-64BB-25F8-79DADD8D5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7F8C6-59FE-49C5-DB81-3B889F599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D6A2-D5DE-4F01-98AB-687AA1F19E50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1A662-A741-11FA-2970-8628AD04B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DEB1E-130C-4912-1348-BD48E5A9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4BA-9761-4B72-BA9D-1B86F91D3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91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A6AC-9BC1-AD48-FB1E-7061FB715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FB467-8FBA-DA5E-2FEE-8953897A3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C9F54-74C5-8632-0983-7F5799A2E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CA005-CB81-4CC5-7412-923C155DA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02E5A-CF16-DB81-30A8-198BE9D3FA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D0BE0D-3C2A-9A5F-0CC7-3098460F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D6A2-D5DE-4F01-98AB-687AA1F19E50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6C842F-B9C0-6336-2B8C-1E019B75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0B1CBD-9A96-5576-668D-3DC030770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4BA-9761-4B72-BA9D-1B86F91D3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918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F5DA-0BF6-BF78-2FA2-8D6C3200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44A13-9D89-642E-978A-24271B416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D6A2-D5DE-4F01-98AB-687AA1F19E50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CBE49-A5B6-259D-DEC9-571E5E473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76614-3EBC-C778-9030-25D3AC605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4BA-9761-4B72-BA9D-1B86F91D3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50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E5046-A532-1A3B-B8CC-080900854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D6A2-D5DE-4F01-98AB-687AA1F19E50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6E8091-2D2A-2807-0E34-FBA5B6E4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6AB79-FBF2-F160-4DA0-953DE38F7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4BA-9761-4B72-BA9D-1B86F91D3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1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B4CB9-B76B-110D-A45A-2F4195B3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CA253-EDDD-2373-E3B0-9A049099C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3C7F4-1258-98D0-19C3-6DB4679F8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9FB6A-B45C-A86C-64BF-EE4EDFB70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D6A2-D5DE-4F01-98AB-687AA1F19E50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66662-B8A5-0FA0-FAC1-E75C30A0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E4D40-D131-037B-48E8-533156A9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4BA-9761-4B72-BA9D-1B86F91D3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38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C842-F7D4-7E35-A4C2-9F98C56CE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FE0987-DC28-E35E-EC36-3991DF251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36676-C800-8E35-3015-394604B2E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4F7BC-29EB-C8C9-5D9C-F6D6BDED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D6A2-D5DE-4F01-98AB-687AA1F19E50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EAA3E-A9E8-2B4F-FE5E-E9970975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16D78-C09F-3256-3C79-E5E8E228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4BA-9761-4B72-BA9D-1B86F91D3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42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C2F6-5E70-22B5-9752-A65B01F5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5CF8C-D18F-47CF-8718-EB8DE4DD3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8D06C-A27B-B8E8-EE61-040C6624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D6A2-D5DE-4F01-98AB-687AA1F19E50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030D1-E0F2-0A24-4F86-6DEF4FDD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C8180-6153-95C0-8797-8D735561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4BA-9761-4B72-BA9D-1B86F91D3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8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7D4915-E23A-DBB8-08CF-212FC9F9C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B1D15-625A-902F-EE7E-B177B3DF7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48E4C-EEBF-80DE-8443-0DDBFCC4B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D6A2-D5DE-4F01-98AB-687AA1F19E50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9B253-3184-873B-9AFE-AB2549677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12D3D-6013-7F4A-78DA-787A861D7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4BA-9761-4B72-BA9D-1B86F91D3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589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6C9238-D5D7-0EEA-41EF-38E5CB652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6C810-D6E0-FCAD-4453-16D338E36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F39B2-999A-CF55-4CD9-7F82B737A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FD6A2-D5DE-4F01-98AB-687AA1F19E50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E67A4-2107-7418-148F-95DD01B9B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AE5B0-8314-0682-02E3-71AF27AF5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604BA-9761-4B72-BA9D-1B86F91D3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1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diagram of a data flow&#10;&#10;AI-generated content may be incorrect.">
            <a:extLst>
              <a:ext uri="{FF2B5EF4-FFF2-40B4-BE49-F238E27FC236}">
                <a16:creationId xmlns:a16="http://schemas.microsoft.com/office/drawing/2014/main" id="{1E862BD5-0A03-7E15-D6CE-305AC9E08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864" y="918210"/>
            <a:ext cx="3364062" cy="5783580"/>
          </a:xfrm>
          <a:prstGeom prst="rect">
            <a:avLst/>
          </a:prstGeom>
        </p:spPr>
      </p:pic>
      <p:pic>
        <p:nvPicPr>
          <p:cNvPr id="37" name="Picture 36" descr="A diagram of a data flow&#10;&#10;AI-generated content may be incorrect.">
            <a:extLst>
              <a:ext uri="{FF2B5EF4-FFF2-40B4-BE49-F238E27FC236}">
                <a16:creationId xmlns:a16="http://schemas.microsoft.com/office/drawing/2014/main" id="{BAFBCDE3-876C-13D8-B3C0-33EDFC443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6" y="918210"/>
            <a:ext cx="3424549" cy="5783580"/>
          </a:xfrm>
          <a:prstGeom prst="rect">
            <a:avLst/>
          </a:prstGeom>
        </p:spPr>
      </p:pic>
      <p:pic>
        <p:nvPicPr>
          <p:cNvPr id="39" name="Picture 38" descr="A diagram of a data flow&#10;&#10;AI-generated content may be incorrect.">
            <a:extLst>
              <a:ext uri="{FF2B5EF4-FFF2-40B4-BE49-F238E27FC236}">
                <a16:creationId xmlns:a16="http://schemas.microsoft.com/office/drawing/2014/main" id="{C29FABF3-812E-0FA9-1940-5361399459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725" y="918210"/>
            <a:ext cx="3424549" cy="5783580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D6BB05-0BD9-D184-B252-D5682F80A079}"/>
              </a:ext>
            </a:extLst>
          </p:cNvPr>
          <p:cNvCxnSpPr/>
          <p:nvPr/>
        </p:nvCxnSpPr>
        <p:spPr>
          <a:xfrm>
            <a:off x="205740" y="2301240"/>
            <a:ext cx="1178052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257D390-00BE-FDAF-434F-BB01F9AFA01A}"/>
              </a:ext>
            </a:extLst>
          </p:cNvPr>
          <p:cNvCxnSpPr/>
          <p:nvPr/>
        </p:nvCxnSpPr>
        <p:spPr>
          <a:xfrm>
            <a:off x="205739" y="1577340"/>
            <a:ext cx="1178052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8F88B62-4A9E-BB16-2286-15304A4F5BF9}"/>
              </a:ext>
            </a:extLst>
          </p:cNvPr>
          <p:cNvCxnSpPr>
            <a:cxnSpLocks/>
          </p:cNvCxnSpPr>
          <p:nvPr/>
        </p:nvCxnSpPr>
        <p:spPr>
          <a:xfrm>
            <a:off x="4082391" y="716280"/>
            <a:ext cx="0" cy="611124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6BCED21-9891-DB1C-E629-75EAE9E94256}"/>
              </a:ext>
            </a:extLst>
          </p:cNvPr>
          <p:cNvCxnSpPr>
            <a:cxnSpLocks/>
          </p:cNvCxnSpPr>
          <p:nvPr/>
        </p:nvCxnSpPr>
        <p:spPr>
          <a:xfrm>
            <a:off x="8067651" y="754380"/>
            <a:ext cx="0" cy="611124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A0B98FD-0C18-03AE-1090-95DEB623139F}"/>
              </a:ext>
            </a:extLst>
          </p:cNvPr>
          <p:cNvSpPr txBox="1"/>
          <p:nvPr/>
        </p:nvSpPr>
        <p:spPr>
          <a:xfrm>
            <a:off x="2916966" y="156210"/>
            <a:ext cx="6358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Poppins" panose="00000800000000000000" pitchFamily="2" charset="0"/>
                <a:cs typeface="Poppins" panose="00000800000000000000" pitchFamily="2" charset="0"/>
              </a:rPr>
              <a:t>Proposed Model Architecture </a:t>
            </a:r>
          </a:p>
        </p:txBody>
      </p:sp>
    </p:spTree>
    <p:extLst>
      <p:ext uri="{BB962C8B-B14F-4D97-AF65-F5344CB8AC3E}">
        <p14:creationId xmlns:p14="http://schemas.microsoft.com/office/powerpoint/2010/main" val="235298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4D9B6F2-37D3-7734-69DF-117A6B00331D}"/>
              </a:ext>
            </a:extLst>
          </p:cNvPr>
          <p:cNvSpPr>
            <a:spLocks/>
          </p:cNvSpPr>
          <p:nvPr/>
        </p:nvSpPr>
        <p:spPr>
          <a:xfrm>
            <a:off x="2459631" y="523564"/>
            <a:ext cx="4348005" cy="1142749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64A479F-BC19-CBAA-822A-1648D1BB1EDA}"/>
              </a:ext>
            </a:extLst>
          </p:cNvPr>
          <p:cNvCxnSpPr>
            <a:cxnSpLocks/>
          </p:cNvCxnSpPr>
          <p:nvPr/>
        </p:nvCxnSpPr>
        <p:spPr>
          <a:xfrm>
            <a:off x="4504178" y="3993360"/>
            <a:ext cx="54876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2" name="Connector: Elbow 371">
            <a:extLst>
              <a:ext uri="{FF2B5EF4-FFF2-40B4-BE49-F238E27FC236}">
                <a16:creationId xmlns:a16="http://schemas.microsoft.com/office/drawing/2014/main" id="{267B0ACE-B949-682E-9B50-EE81F39C7C8F}"/>
              </a:ext>
            </a:extLst>
          </p:cNvPr>
          <p:cNvCxnSpPr>
            <a:cxnSpLocks/>
            <a:stCxn id="4" idx="4"/>
            <a:endCxn id="9" idx="2"/>
          </p:cNvCxnSpPr>
          <p:nvPr/>
        </p:nvCxnSpPr>
        <p:spPr>
          <a:xfrm flipV="1">
            <a:off x="3774723" y="1371516"/>
            <a:ext cx="3936070" cy="4385897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F8E29193-21E0-C7A7-B532-5AD2B98A37D1}"/>
              </a:ext>
            </a:extLst>
          </p:cNvPr>
          <p:cNvCxnSpPr>
            <a:cxnSpLocks/>
          </p:cNvCxnSpPr>
          <p:nvPr/>
        </p:nvCxnSpPr>
        <p:spPr>
          <a:xfrm>
            <a:off x="4470511" y="1155268"/>
            <a:ext cx="33617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D72EAF38-5B7A-2270-AA4A-0A29382397CE}"/>
              </a:ext>
            </a:extLst>
          </p:cNvPr>
          <p:cNvCxnSpPr>
            <a:cxnSpLocks/>
          </p:cNvCxnSpPr>
          <p:nvPr/>
        </p:nvCxnSpPr>
        <p:spPr>
          <a:xfrm>
            <a:off x="1553824" y="1161490"/>
            <a:ext cx="115639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B15B1171-252B-47F1-F099-9463350302DA}"/>
              </a:ext>
            </a:extLst>
          </p:cNvPr>
          <p:cNvSpPr/>
          <p:nvPr/>
        </p:nvSpPr>
        <p:spPr>
          <a:xfrm>
            <a:off x="2459631" y="5243705"/>
            <a:ext cx="1315092" cy="1027415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668AB-9C81-9C36-6EF0-E9B7BB6D2090}"/>
              </a:ext>
            </a:extLst>
          </p:cNvPr>
          <p:cNvSpPr txBox="1"/>
          <p:nvPr/>
        </p:nvSpPr>
        <p:spPr>
          <a:xfrm>
            <a:off x="1974016" y="6357902"/>
            <a:ext cx="2286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Plantar Pressure images </a:t>
            </a:r>
          </a:p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Dataset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995AEB9-C39F-757A-94B8-1DEDE6FB29C7}"/>
              </a:ext>
            </a:extLst>
          </p:cNvPr>
          <p:cNvCxnSpPr>
            <a:cxnSpLocks/>
            <a:stCxn id="4" idx="2"/>
            <a:endCxn id="8" idx="3"/>
          </p:cNvCxnSpPr>
          <p:nvPr/>
        </p:nvCxnSpPr>
        <p:spPr>
          <a:xfrm flipH="1" flipV="1">
            <a:off x="1958945" y="5739126"/>
            <a:ext cx="500686" cy="1828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6059DD-607C-DFCA-E0F6-25CE59EBDEB8}"/>
              </a:ext>
            </a:extLst>
          </p:cNvPr>
          <p:cNvSpPr/>
          <p:nvPr/>
        </p:nvSpPr>
        <p:spPr>
          <a:xfrm>
            <a:off x="464917" y="5470716"/>
            <a:ext cx="1494028" cy="53682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Train set 80%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B9088E-73D8-5531-35B5-031A2210B823}"/>
              </a:ext>
            </a:extLst>
          </p:cNvPr>
          <p:cNvSpPr/>
          <p:nvPr/>
        </p:nvSpPr>
        <p:spPr>
          <a:xfrm>
            <a:off x="7056992" y="843296"/>
            <a:ext cx="1307602" cy="52822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Test set 20%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7AD8CC-B9CE-0793-5FB6-F28983A66092}"/>
              </a:ext>
            </a:extLst>
          </p:cNvPr>
          <p:cNvSpPr>
            <a:spLocks/>
          </p:cNvSpPr>
          <p:nvPr/>
        </p:nvSpPr>
        <p:spPr>
          <a:xfrm>
            <a:off x="5052947" y="2345811"/>
            <a:ext cx="5879628" cy="2775588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9A29E6-B43E-741F-7C5F-394CFDBAAD96}"/>
              </a:ext>
            </a:extLst>
          </p:cNvPr>
          <p:cNvSpPr txBox="1"/>
          <p:nvPr/>
        </p:nvSpPr>
        <p:spPr>
          <a:xfrm>
            <a:off x="6325200" y="6042135"/>
            <a:ext cx="57351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Poppins" panose="00000800000000000000" pitchFamily="2" charset="0"/>
                <a:cs typeface="Poppins" panose="00000800000000000000" pitchFamily="2" charset="0"/>
              </a:rPr>
              <a:t>Proposed Model 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A6BA5C-5583-E3A3-A9E0-CDB02E5343E5}"/>
              </a:ext>
            </a:extLst>
          </p:cNvPr>
          <p:cNvSpPr/>
          <p:nvPr/>
        </p:nvSpPr>
        <p:spPr>
          <a:xfrm>
            <a:off x="5241641" y="2636800"/>
            <a:ext cx="2593372" cy="17839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57B6E7-5C4F-F806-90FA-2999289DD111}"/>
              </a:ext>
            </a:extLst>
          </p:cNvPr>
          <p:cNvSpPr txBox="1"/>
          <p:nvPr/>
        </p:nvSpPr>
        <p:spPr>
          <a:xfrm>
            <a:off x="5340102" y="4489057"/>
            <a:ext cx="2350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Poppins" panose="00000800000000000000" pitchFamily="2" charset="0"/>
                <a:cs typeface="Poppins" panose="00000800000000000000" pitchFamily="2" charset="0"/>
              </a:rPr>
              <a:t>CNN Backbone </a:t>
            </a:r>
            <a:br>
              <a:rPr lang="en-US" sz="1400" b="1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400" b="1" dirty="0">
                <a:latin typeface="Poppins" panose="00000800000000000000" pitchFamily="2" charset="0"/>
                <a:cs typeface="Poppins" panose="00000800000000000000" pitchFamily="2" charset="0"/>
              </a:rPr>
              <a:t>(Feature Extractor)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23F81B-F3F5-EAA8-7BF7-B52072F44763}"/>
              </a:ext>
            </a:extLst>
          </p:cNvPr>
          <p:cNvSpPr txBox="1"/>
          <p:nvPr/>
        </p:nvSpPr>
        <p:spPr>
          <a:xfrm>
            <a:off x="5241641" y="2705294"/>
            <a:ext cx="25855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Phase 1 Frozen layer</a:t>
            </a:r>
            <a:b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b="1" dirty="0">
                <a:solidFill>
                  <a:srgbClr val="C0000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(Pre-trained with ImageNet)</a:t>
            </a:r>
          </a:p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Epochs = 50</a:t>
            </a:r>
          </a:p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Patience = 5</a:t>
            </a:r>
          </a:p>
          <a:p>
            <a:pPr algn="ctr"/>
            <a:endParaRPr lang="en-US" sz="1200"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FACD48-1960-D3A4-D4B8-0DFD1A99B423}"/>
              </a:ext>
            </a:extLst>
          </p:cNvPr>
          <p:cNvSpPr txBox="1"/>
          <p:nvPr/>
        </p:nvSpPr>
        <p:spPr>
          <a:xfrm>
            <a:off x="5255611" y="3591766"/>
            <a:ext cx="25794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7030A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Phase 2 Unfreeze Top 30% </a:t>
            </a:r>
            <a:b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b="1" dirty="0">
                <a:solidFill>
                  <a:srgbClr val="7030A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layer (Fine-tuning)</a:t>
            </a:r>
          </a:p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Epochs = 50</a:t>
            </a:r>
          </a:p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Patience = 15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F2473FB-F6C9-E4A5-F677-D5EFE06BB503}"/>
              </a:ext>
            </a:extLst>
          </p:cNvPr>
          <p:cNvCxnSpPr>
            <a:cxnSpLocks/>
          </p:cNvCxnSpPr>
          <p:nvPr/>
        </p:nvCxnSpPr>
        <p:spPr>
          <a:xfrm>
            <a:off x="5378630" y="3545607"/>
            <a:ext cx="2319393" cy="0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9002E39-D0E1-6D81-41D4-99D563043749}"/>
              </a:ext>
            </a:extLst>
          </p:cNvPr>
          <p:cNvCxnSpPr>
            <a:cxnSpLocks/>
          </p:cNvCxnSpPr>
          <p:nvPr/>
        </p:nvCxnSpPr>
        <p:spPr>
          <a:xfrm flipH="1">
            <a:off x="7960149" y="2458427"/>
            <a:ext cx="15410" cy="253576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048D14A-2236-C159-D71B-EA2E15F8F53D}"/>
              </a:ext>
            </a:extLst>
          </p:cNvPr>
          <p:cNvSpPr/>
          <p:nvPr/>
        </p:nvSpPr>
        <p:spPr>
          <a:xfrm>
            <a:off x="8102399" y="2636800"/>
            <a:ext cx="2632573" cy="17839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ED5D2C-441F-DE0A-1BDA-910F00BFD6D2}"/>
              </a:ext>
            </a:extLst>
          </p:cNvPr>
          <p:cNvSpPr txBox="1"/>
          <p:nvPr/>
        </p:nvSpPr>
        <p:spPr>
          <a:xfrm>
            <a:off x="8218420" y="3077965"/>
            <a:ext cx="2395038" cy="106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30"/>
              </a:spcAft>
            </a:pP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Global Average Pooling 2D</a:t>
            </a:r>
          </a:p>
          <a:p>
            <a:pPr algn="ctr">
              <a:spcAft>
                <a:spcPts val="130"/>
              </a:spcAft>
            </a:pP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Dense (ReLU) + L2 + Dropout</a:t>
            </a:r>
          </a:p>
          <a:p>
            <a:pPr algn="ctr">
              <a:spcAft>
                <a:spcPts val="130"/>
              </a:spcAft>
            </a:pP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Dense (ReLU) + L2 + Dropout</a:t>
            </a:r>
          </a:p>
          <a:p>
            <a:pPr algn="ctr">
              <a:spcAft>
                <a:spcPts val="130"/>
              </a:spcAft>
            </a:pP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Dense (1, Sigmoid)</a:t>
            </a:r>
          </a:p>
          <a:p>
            <a:pPr algn="ctr">
              <a:spcAft>
                <a:spcPts val="130"/>
              </a:spcAft>
            </a:pPr>
            <a:endParaRPr lang="en-US" sz="1200"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FF6E07-7966-A52C-7E3C-945E96A6E5B3}"/>
              </a:ext>
            </a:extLst>
          </p:cNvPr>
          <p:cNvSpPr txBox="1"/>
          <p:nvPr/>
        </p:nvSpPr>
        <p:spPr>
          <a:xfrm>
            <a:off x="8650595" y="4532200"/>
            <a:ext cx="170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Poppins" panose="00000800000000000000" pitchFamily="2" charset="0"/>
                <a:cs typeface="Poppins" panose="00000800000000000000" pitchFamily="2" charset="0"/>
              </a:rPr>
              <a:t>Classifier Head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70EE531-2786-9359-1681-B18F2B5D84FD}"/>
              </a:ext>
            </a:extLst>
          </p:cNvPr>
          <p:cNvCxnSpPr>
            <a:cxnSpLocks/>
          </p:cNvCxnSpPr>
          <p:nvPr/>
        </p:nvCxnSpPr>
        <p:spPr>
          <a:xfrm flipH="1" flipV="1">
            <a:off x="2213467" y="2458427"/>
            <a:ext cx="2845055" cy="295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C1F6072-42B6-7CF2-1DFD-0D0E542F09A6}"/>
              </a:ext>
            </a:extLst>
          </p:cNvPr>
          <p:cNvSpPr/>
          <p:nvPr/>
        </p:nvSpPr>
        <p:spPr>
          <a:xfrm>
            <a:off x="356213" y="2144910"/>
            <a:ext cx="1846220" cy="820159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Backbone Selection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(EfficientNetB0, Resnet50 and ConvNeXt-Tiny)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C6860B1-23BA-83EA-147C-C363CB12F20A}"/>
              </a:ext>
            </a:extLst>
          </p:cNvPr>
          <p:cNvSpPr/>
          <p:nvPr/>
        </p:nvSpPr>
        <p:spPr>
          <a:xfrm>
            <a:off x="2710216" y="757568"/>
            <a:ext cx="1760295" cy="71969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Average optimal Threshold from Youden Index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EAC1788-1FF9-DF00-F2CD-B90BC2DEDFE6}"/>
              </a:ext>
            </a:extLst>
          </p:cNvPr>
          <p:cNvCxnSpPr>
            <a:cxnSpLocks/>
            <a:stCxn id="47" idx="0"/>
            <a:endCxn id="143" idx="2"/>
          </p:cNvCxnSpPr>
          <p:nvPr/>
        </p:nvCxnSpPr>
        <p:spPr>
          <a:xfrm flipH="1" flipV="1">
            <a:off x="1277584" y="1807327"/>
            <a:ext cx="1739" cy="33758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052D859-085D-C00B-2AC0-2F5C5F739C35}"/>
              </a:ext>
            </a:extLst>
          </p:cNvPr>
          <p:cNvSpPr/>
          <p:nvPr/>
        </p:nvSpPr>
        <p:spPr>
          <a:xfrm>
            <a:off x="4806686" y="722375"/>
            <a:ext cx="1847441" cy="785818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Re-train on 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Full Train set 80% 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(average stopping epoch)</a:t>
            </a:r>
          </a:p>
        </p:txBody>
      </p:sp>
      <p:sp>
        <p:nvSpPr>
          <p:cNvPr id="143" name="Diamond 142">
            <a:extLst>
              <a:ext uri="{FF2B5EF4-FFF2-40B4-BE49-F238E27FC236}">
                <a16:creationId xmlns:a16="http://schemas.microsoft.com/office/drawing/2014/main" id="{2F6D530C-558A-A32E-22CE-6D965808B922}"/>
              </a:ext>
            </a:extLst>
          </p:cNvPr>
          <p:cNvSpPr/>
          <p:nvPr/>
        </p:nvSpPr>
        <p:spPr>
          <a:xfrm>
            <a:off x="208534" y="515653"/>
            <a:ext cx="2138099" cy="129167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 Selection Criteria:</a:t>
            </a:r>
          </a:p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AUC &gt; 80%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Sen &gt; 85%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Spec &gt; 70%</a:t>
            </a:r>
          </a:p>
          <a:p>
            <a:pPr algn="ctr"/>
            <a:endParaRPr lang="en-US" sz="1200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30B8E9DF-5C40-7BAB-C8EE-21D1FC635941}"/>
              </a:ext>
            </a:extLst>
          </p:cNvPr>
          <p:cNvSpPr txBox="1"/>
          <p:nvPr/>
        </p:nvSpPr>
        <p:spPr>
          <a:xfrm>
            <a:off x="-459777" y="58399"/>
            <a:ext cx="347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No meet &amp; All meet criteria: </a:t>
            </a:r>
            <a:b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b="1" dirty="0">
                <a:solidFill>
                  <a:srgbClr val="FF000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selected by Highest AUC</a:t>
            </a: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504AA618-3237-AE79-9A8A-56363495F7C8}"/>
              </a:ext>
            </a:extLst>
          </p:cNvPr>
          <p:cNvSpPr/>
          <p:nvPr/>
        </p:nvSpPr>
        <p:spPr>
          <a:xfrm>
            <a:off x="8950134" y="737145"/>
            <a:ext cx="2007699" cy="1402429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Performance Results:</a:t>
            </a:r>
            <a:b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Sensitivity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Specificity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AUC-ROC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PPV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NPV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F1-Score</a:t>
            </a:r>
          </a:p>
        </p:txBody>
      </p:sp>
      <p:sp>
        <p:nvSpPr>
          <p:cNvPr id="254" name="Rectangle: Rounded Corners 253">
            <a:extLst>
              <a:ext uri="{FF2B5EF4-FFF2-40B4-BE49-F238E27FC236}">
                <a16:creationId xmlns:a16="http://schemas.microsoft.com/office/drawing/2014/main" id="{8FA064CF-8E5C-B056-B35E-24A011E92184}"/>
              </a:ext>
            </a:extLst>
          </p:cNvPr>
          <p:cNvSpPr/>
          <p:nvPr/>
        </p:nvSpPr>
        <p:spPr>
          <a:xfrm>
            <a:off x="200692" y="3130750"/>
            <a:ext cx="2138099" cy="1788216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Optuna</a:t>
            </a:r>
            <a:r>
              <a:rPr lang="th-TH" sz="1200" b="1" dirty="0">
                <a:solidFill>
                  <a:srgbClr val="0070C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(TPE Sampler)</a:t>
            </a:r>
            <a:br>
              <a:rPr lang="en-US" sz="1200" b="1" dirty="0">
                <a:solidFill>
                  <a:srgbClr val="0070C0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b="1" dirty="0">
                <a:solidFill>
                  <a:srgbClr val="0070C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 10 trials, (1-fold only)</a:t>
            </a:r>
            <a:br>
              <a:rPr lang="th-TH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Dropout_rate</a:t>
            </a:r>
            <a:b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L2_Reg</a:t>
            </a:r>
            <a:b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Dense_units_1</a:t>
            </a:r>
            <a:b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Dense_units_2</a:t>
            </a:r>
            <a:b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Batch_size</a:t>
            </a:r>
            <a:b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Phase1_lr</a:t>
            </a:r>
            <a:b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Phase2_lr</a:t>
            </a:r>
          </a:p>
        </p:txBody>
      </p: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46B2F9A5-B96E-DAB2-D1DA-59FEFD558AC9}"/>
              </a:ext>
            </a:extLst>
          </p:cNvPr>
          <p:cNvCxnSpPr>
            <a:cxnSpLocks/>
            <a:stCxn id="254" idx="3"/>
            <a:endCxn id="22" idx="1"/>
          </p:cNvCxnSpPr>
          <p:nvPr/>
        </p:nvCxnSpPr>
        <p:spPr>
          <a:xfrm>
            <a:off x="2338791" y="4024858"/>
            <a:ext cx="42141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1" name="Connector: Elbow 340">
            <a:extLst>
              <a:ext uri="{FF2B5EF4-FFF2-40B4-BE49-F238E27FC236}">
                <a16:creationId xmlns:a16="http://schemas.microsoft.com/office/drawing/2014/main" id="{E6A51AAD-DC59-7BB2-AEDB-7E5B56BB434B}"/>
              </a:ext>
            </a:extLst>
          </p:cNvPr>
          <p:cNvCxnSpPr>
            <a:cxnSpLocks/>
            <a:stCxn id="8" idx="0"/>
          </p:cNvCxnSpPr>
          <p:nvPr/>
        </p:nvCxnSpPr>
        <p:spPr>
          <a:xfrm rot="5400000" flipH="1" flipV="1">
            <a:off x="936058" y="5194841"/>
            <a:ext cx="551749" cy="2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Arrow Connector 367">
            <a:extLst>
              <a:ext uri="{FF2B5EF4-FFF2-40B4-BE49-F238E27FC236}">
                <a16:creationId xmlns:a16="http://schemas.microsoft.com/office/drawing/2014/main" id="{40D92509-A897-9615-D051-E2E6D2D8E3B4}"/>
              </a:ext>
            </a:extLst>
          </p:cNvPr>
          <p:cNvCxnSpPr>
            <a:cxnSpLocks/>
          </p:cNvCxnSpPr>
          <p:nvPr/>
        </p:nvCxnSpPr>
        <p:spPr>
          <a:xfrm>
            <a:off x="6654127" y="1130726"/>
            <a:ext cx="40314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34031DD6-FFEE-9110-50B7-F60E4AFA91E3}"/>
              </a:ext>
            </a:extLst>
          </p:cNvPr>
          <p:cNvCxnSpPr>
            <a:cxnSpLocks/>
          </p:cNvCxnSpPr>
          <p:nvPr/>
        </p:nvCxnSpPr>
        <p:spPr>
          <a:xfrm flipV="1">
            <a:off x="8364594" y="1155268"/>
            <a:ext cx="585540" cy="1244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D9D7D51-D36F-5AAF-3DB3-BC3A733132CE}"/>
              </a:ext>
            </a:extLst>
          </p:cNvPr>
          <p:cNvSpPr/>
          <p:nvPr/>
        </p:nvSpPr>
        <p:spPr>
          <a:xfrm>
            <a:off x="2760210" y="3756448"/>
            <a:ext cx="1827630" cy="53682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5-fold CV with best hyperparameter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AB29D7-2D9E-7312-E59A-A671CC9765EF}"/>
              </a:ext>
            </a:extLst>
          </p:cNvPr>
          <p:cNvSpPr txBox="1"/>
          <p:nvPr/>
        </p:nvSpPr>
        <p:spPr>
          <a:xfrm>
            <a:off x="2963668" y="246935"/>
            <a:ext cx="3474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These average from results of 5-fold cv</a:t>
            </a:r>
            <a:endParaRPr lang="en-US" sz="1200" b="1" dirty="0">
              <a:solidFill>
                <a:srgbClr val="FF0000"/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01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4D9B6F2-37D3-7734-69DF-117A6B00331D}"/>
              </a:ext>
            </a:extLst>
          </p:cNvPr>
          <p:cNvSpPr>
            <a:spLocks/>
          </p:cNvSpPr>
          <p:nvPr/>
        </p:nvSpPr>
        <p:spPr>
          <a:xfrm>
            <a:off x="4238913" y="523564"/>
            <a:ext cx="4328557" cy="1142749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64A479F-BC19-CBAA-822A-1648D1BB1EDA}"/>
              </a:ext>
            </a:extLst>
          </p:cNvPr>
          <p:cNvCxnSpPr>
            <a:cxnSpLocks/>
          </p:cNvCxnSpPr>
          <p:nvPr/>
        </p:nvCxnSpPr>
        <p:spPr>
          <a:xfrm>
            <a:off x="4504178" y="3993360"/>
            <a:ext cx="54876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2" name="Connector: Elbow 371">
            <a:extLst>
              <a:ext uri="{FF2B5EF4-FFF2-40B4-BE49-F238E27FC236}">
                <a16:creationId xmlns:a16="http://schemas.microsoft.com/office/drawing/2014/main" id="{267B0ACE-B949-682E-9B50-EE81F39C7C8F}"/>
              </a:ext>
            </a:extLst>
          </p:cNvPr>
          <p:cNvCxnSpPr>
            <a:cxnSpLocks/>
            <a:stCxn id="4" idx="4"/>
            <a:endCxn id="9" idx="2"/>
          </p:cNvCxnSpPr>
          <p:nvPr/>
        </p:nvCxnSpPr>
        <p:spPr>
          <a:xfrm flipV="1">
            <a:off x="3774723" y="1371516"/>
            <a:ext cx="3936070" cy="4385897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F8E29193-21E0-C7A7-B532-5AD2B98A37D1}"/>
              </a:ext>
            </a:extLst>
          </p:cNvPr>
          <p:cNvCxnSpPr>
            <a:cxnSpLocks/>
          </p:cNvCxnSpPr>
          <p:nvPr/>
        </p:nvCxnSpPr>
        <p:spPr>
          <a:xfrm>
            <a:off x="4470511" y="1155268"/>
            <a:ext cx="33617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D72EAF38-5B7A-2270-AA4A-0A29382397CE}"/>
              </a:ext>
            </a:extLst>
          </p:cNvPr>
          <p:cNvCxnSpPr>
            <a:cxnSpLocks/>
          </p:cNvCxnSpPr>
          <p:nvPr/>
        </p:nvCxnSpPr>
        <p:spPr>
          <a:xfrm>
            <a:off x="1553824" y="1161490"/>
            <a:ext cx="115639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B15B1171-252B-47F1-F099-9463350302DA}"/>
              </a:ext>
            </a:extLst>
          </p:cNvPr>
          <p:cNvSpPr/>
          <p:nvPr/>
        </p:nvSpPr>
        <p:spPr>
          <a:xfrm>
            <a:off x="2459631" y="5243705"/>
            <a:ext cx="1315092" cy="1027415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668AB-9C81-9C36-6EF0-E9B7BB6D2090}"/>
              </a:ext>
            </a:extLst>
          </p:cNvPr>
          <p:cNvSpPr txBox="1"/>
          <p:nvPr/>
        </p:nvSpPr>
        <p:spPr>
          <a:xfrm>
            <a:off x="1974016" y="6357902"/>
            <a:ext cx="2286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Plantar Pressure images </a:t>
            </a:r>
          </a:p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Dataset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995AEB9-C39F-757A-94B8-1DEDE6FB29C7}"/>
              </a:ext>
            </a:extLst>
          </p:cNvPr>
          <p:cNvCxnSpPr>
            <a:cxnSpLocks/>
            <a:stCxn id="4" idx="2"/>
            <a:endCxn id="8" idx="3"/>
          </p:cNvCxnSpPr>
          <p:nvPr/>
        </p:nvCxnSpPr>
        <p:spPr>
          <a:xfrm flipH="1" flipV="1">
            <a:off x="1958945" y="5739126"/>
            <a:ext cx="500686" cy="1828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6059DD-607C-DFCA-E0F6-25CE59EBDEB8}"/>
              </a:ext>
            </a:extLst>
          </p:cNvPr>
          <p:cNvSpPr/>
          <p:nvPr/>
        </p:nvSpPr>
        <p:spPr>
          <a:xfrm>
            <a:off x="464917" y="5470716"/>
            <a:ext cx="1494028" cy="53682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Train set 80%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B9088E-73D8-5531-35B5-031A2210B823}"/>
              </a:ext>
            </a:extLst>
          </p:cNvPr>
          <p:cNvSpPr/>
          <p:nvPr/>
        </p:nvSpPr>
        <p:spPr>
          <a:xfrm>
            <a:off x="7056992" y="843296"/>
            <a:ext cx="1307602" cy="52822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Test set 20%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7AD8CC-B9CE-0793-5FB6-F28983A66092}"/>
              </a:ext>
            </a:extLst>
          </p:cNvPr>
          <p:cNvSpPr>
            <a:spLocks/>
          </p:cNvSpPr>
          <p:nvPr/>
        </p:nvSpPr>
        <p:spPr>
          <a:xfrm>
            <a:off x="5052947" y="2345811"/>
            <a:ext cx="5879628" cy="2775588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9A29E6-B43E-741F-7C5F-394CFDBAAD96}"/>
              </a:ext>
            </a:extLst>
          </p:cNvPr>
          <p:cNvSpPr txBox="1"/>
          <p:nvPr/>
        </p:nvSpPr>
        <p:spPr>
          <a:xfrm>
            <a:off x="6325200" y="6042135"/>
            <a:ext cx="57351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Poppins" panose="00000800000000000000" pitchFamily="2" charset="0"/>
                <a:cs typeface="Poppins" panose="00000800000000000000" pitchFamily="2" charset="0"/>
              </a:rPr>
              <a:t>Proposed Model 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A6BA5C-5583-E3A3-A9E0-CDB02E5343E5}"/>
              </a:ext>
            </a:extLst>
          </p:cNvPr>
          <p:cNvSpPr/>
          <p:nvPr/>
        </p:nvSpPr>
        <p:spPr>
          <a:xfrm>
            <a:off x="5241641" y="2636800"/>
            <a:ext cx="2593372" cy="17839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57B6E7-5C4F-F806-90FA-2999289DD111}"/>
              </a:ext>
            </a:extLst>
          </p:cNvPr>
          <p:cNvSpPr txBox="1"/>
          <p:nvPr/>
        </p:nvSpPr>
        <p:spPr>
          <a:xfrm>
            <a:off x="5340102" y="4489057"/>
            <a:ext cx="2350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Poppins" panose="00000800000000000000" pitchFamily="2" charset="0"/>
                <a:cs typeface="Poppins" panose="00000800000000000000" pitchFamily="2" charset="0"/>
              </a:rPr>
              <a:t>CNN Backbone </a:t>
            </a:r>
            <a:br>
              <a:rPr lang="en-US" sz="1400" b="1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400" b="1" dirty="0">
                <a:latin typeface="Poppins" panose="00000800000000000000" pitchFamily="2" charset="0"/>
                <a:cs typeface="Poppins" panose="00000800000000000000" pitchFamily="2" charset="0"/>
              </a:rPr>
              <a:t>(Feature Extractor)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23F81B-F3F5-EAA8-7BF7-B52072F44763}"/>
              </a:ext>
            </a:extLst>
          </p:cNvPr>
          <p:cNvSpPr txBox="1"/>
          <p:nvPr/>
        </p:nvSpPr>
        <p:spPr>
          <a:xfrm>
            <a:off x="5241641" y="2705294"/>
            <a:ext cx="25855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Phase 1 Frozen layer</a:t>
            </a:r>
            <a:b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b="1" dirty="0">
                <a:solidFill>
                  <a:srgbClr val="C0000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(Pre-trained with ImageNet)</a:t>
            </a:r>
          </a:p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Epochs = 50</a:t>
            </a:r>
          </a:p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Patience = 5</a:t>
            </a:r>
          </a:p>
          <a:p>
            <a:pPr algn="ctr"/>
            <a:endParaRPr lang="en-US" sz="1200"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FACD48-1960-D3A4-D4B8-0DFD1A99B423}"/>
              </a:ext>
            </a:extLst>
          </p:cNvPr>
          <p:cNvSpPr txBox="1"/>
          <p:nvPr/>
        </p:nvSpPr>
        <p:spPr>
          <a:xfrm>
            <a:off x="5255611" y="3591766"/>
            <a:ext cx="25794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7030A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Phase 2 Unfreeze Top 30% </a:t>
            </a:r>
            <a:b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b="1" dirty="0">
                <a:solidFill>
                  <a:srgbClr val="7030A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layer (Fine-tuning)</a:t>
            </a:r>
          </a:p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Epochs = 50</a:t>
            </a:r>
          </a:p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Patience = 15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F2473FB-F6C9-E4A5-F677-D5EFE06BB503}"/>
              </a:ext>
            </a:extLst>
          </p:cNvPr>
          <p:cNvCxnSpPr>
            <a:cxnSpLocks/>
          </p:cNvCxnSpPr>
          <p:nvPr/>
        </p:nvCxnSpPr>
        <p:spPr>
          <a:xfrm>
            <a:off x="5378630" y="3545607"/>
            <a:ext cx="2319393" cy="0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9002E39-D0E1-6D81-41D4-99D563043749}"/>
              </a:ext>
            </a:extLst>
          </p:cNvPr>
          <p:cNvCxnSpPr>
            <a:cxnSpLocks/>
          </p:cNvCxnSpPr>
          <p:nvPr/>
        </p:nvCxnSpPr>
        <p:spPr>
          <a:xfrm flipH="1">
            <a:off x="7960149" y="2458427"/>
            <a:ext cx="15410" cy="253576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048D14A-2236-C159-D71B-EA2E15F8F53D}"/>
              </a:ext>
            </a:extLst>
          </p:cNvPr>
          <p:cNvSpPr/>
          <p:nvPr/>
        </p:nvSpPr>
        <p:spPr>
          <a:xfrm>
            <a:off x="8102399" y="2636800"/>
            <a:ext cx="2632573" cy="17839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ED5D2C-441F-DE0A-1BDA-910F00BFD6D2}"/>
              </a:ext>
            </a:extLst>
          </p:cNvPr>
          <p:cNvSpPr txBox="1"/>
          <p:nvPr/>
        </p:nvSpPr>
        <p:spPr>
          <a:xfrm>
            <a:off x="8218420" y="3077965"/>
            <a:ext cx="2395038" cy="106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30"/>
              </a:spcAft>
            </a:pP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Global Average Pooling 2D</a:t>
            </a:r>
          </a:p>
          <a:p>
            <a:pPr algn="ctr">
              <a:spcAft>
                <a:spcPts val="130"/>
              </a:spcAft>
            </a:pP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Dense (ReLU) + L2 + Dropout</a:t>
            </a:r>
          </a:p>
          <a:p>
            <a:pPr algn="ctr">
              <a:spcAft>
                <a:spcPts val="130"/>
              </a:spcAft>
            </a:pP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Dense (ReLU) + L2 + Dropout</a:t>
            </a:r>
          </a:p>
          <a:p>
            <a:pPr algn="ctr">
              <a:spcAft>
                <a:spcPts val="130"/>
              </a:spcAft>
            </a:pP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Dense (1, Sigmoid)</a:t>
            </a:r>
          </a:p>
          <a:p>
            <a:pPr algn="ctr">
              <a:spcAft>
                <a:spcPts val="130"/>
              </a:spcAft>
            </a:pPr>
            <a:endParaRPr lang="en-US" sz="1200"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FF6E07-7966-A52C-7E3C-945E96A6E5B3}"/>
              </a:ext>
            </a:extLst>
          </p:cNvPr>
          <p:cNvSpPr txBox="1"/>
          <p:nvPr/>
        </p:nvSpPr>
        <p:spPr>
          <a:xfrm>
            <a:off x="8650595" y="4532200"/>
            <a:ext cx="170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Poppins" panose="00000800000000000000" pitchFamily="2" charset="0"/>
                <a:cs typeface="Poppins" panose="00000800000000000000" pitchFamily="2" charset="0"/>
              </a:rPr>
              <a:t>Classifier Head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70EE531-2786-9359-1681-B18F2B5D84FD}"/>
              </a:ext>
            </a:extLst>
          </p:cNvPr>
          <p:cNvCxnSpPr>
            <a:cxnSpLocks/>
          </p:cNvCxnSpPr>
          <p:nvPr/>
        </p:nvCxnSpPr>
        <p:spPr>
          <a:xfrm flipH="1" flipV="1">
            <a:off x="2213467" y="2458427"/>
            <a:ext cx="2845055" cy="295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C1F6072-42B6-7CF2-1DFD-0D0E542F09A6}"/>
              </a:ext>
            </a:extLst>
          </p:cNvPr>
          <p:cNvSpPr/>
          <p:nvPr/>
        </p:nvSpPr>
        <p:spPr>
          <a:xfrm>
            <a:off x="356213" y="2144910"/>
            <a:ext cx="1846220" cy="820159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Backbone Selection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(EfficientNetB0, Resnet50 and ConvNeXt-Tiny)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C6860B1-23BA-83EA-147C-C363CB12F20A}"/>
              </a:ext>
            </a:extLst>
          </p:cNvPr>
          <p:cNvSpPr/>
          <p:nvPr/>
        </p:nvSpPr>
        <p:spPr>
          <a:xfrm>
            <a:off x="2710216" y="757568"/>
            <a:ext cx="1760295" cy="71969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Average optimal Threshold from Youden Index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EAC1788-1FF9-DF00-F2CD-B90BC2DEDFE6}"/>
              </a:ext>
            </a:extLst>
          </p:cNvPr>
          <p:cNvCxnSpPr>
            <a:cxnSpLocks/>
            <a:stCxn id="47" idx="0"/>
            <a:endCxn id="143" idx="2"/>
          </p:cNvCxnSpPr>
          <p:nvPr/>
        </p:nvCxnSpPr>
        <p:spPr>
          <a:xfrm flipH="1" flipV="1">
            <a:off x="1277584" y="1807327"/>
            <a:ext cx="1739" cy="33758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052D859-085D-C00B-2AC0-2F5C5F739C35}"/>
              </a:ext>
            </a:extLst>
          </p:cNvPr>
          <p:cNvSpPr/>
          <p:nvPr/>
        </p:nvSpPr>
        <p:spPr>
          <a:xfrm>
            <a:off x="4806686" y="722375"/>
            <a:ext cx="1847441" cy="785818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Re-train on 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Full Train set 80% 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(average stopping epoch)</a:t>
            </a:r>
          </a:p>
        </p:txBody>
      </p:sp>
      <p:sp>
        <p:nvSpPr>
          <p:cNvPr id="143" name="Diamond 142">
            <a:extLst>
              <a:ext uri="{FF2B5EF4-FFF2-40B4-BE49-F238E27FC236}">
                <a16:creationId xmlns:a16="http://schemas.microsoft.com/office/drawing/2014/main" id="{2F6D530C-558A-A32E-22CE-6D965808B922}"/>
              </a:ext>
            </a:extLst>
          </p:cNvPr>
          <p:cNvSpPr/>
          <p:nvPr/>
        </p:nvSpPr>
        <p:spPr>
          <a:xfrm>
            <a:off x="208534" y="515653"/>
            <a:ext cx="2138099" cy="129167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 Selection Criteria:</a:t>
            </a:r>
          </a:p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AUC &gt; 80%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Sen &gt; 85%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Spec &gt; 70%</a:t>
            </a:r>
          </a:p>
          <a:p>
            <a:pPr algn="ctr"/>
            <a:endParaRPr lang="en-US" sz="1200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30B8E9DF-5C40-7BAB-C8EE-21D1FC635941}"/>
              </a:ext>
            </a:extLst>
          </p:cNvPr>
          <p:cNvSpPr txBox="1"/>
          <p:nvPr/>
        </p:nvSpPr>
        <p:spPr>
          <a:xfrm>
            <a:off x="-459777" y="58399"/>
            <a:ext cx="347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No meet &amp; All meet criteria: </a:t>
            </a:r>
            <a:b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b="1" dirty="0">
                <a:solidFill>
                  <a:srgbClr val="FF000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selected by Highest AUC</a:t>
            </a: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504AA618-3237-AE79-9A8A-56363495F7C8}"/>
              </a:ext>
            </a:extLst>
          </p:cNvPr>
          <p:cNvSpPr/>
          <p:nvPr/>
        </p:nvSpPr>
        <p:spPr>
          <a:xfrm>
            <a:off x="8950134" y="737145"/>
            <a:ext cx="2007699" cy="1402429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Performance Results:</a:t>
            </a:r>
            <a:b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Sensitivity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Specificity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AUC-ROC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PPV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NPV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F1-Score</a:t>
            </a:r>
          </a:p>
        </p:txBody>
      </p:sp>
      <p:sp>
        <p:nvSpPr>
          <p:cNvPr id="254" name="Rectangle: Rounded Corners 253">
            <a:extLst>
              <a:ext uri="{FF2B5EF4-FFF2-40B4-BE49-F238E27FC236}">
                <a16:creationId xmlns:a16="http://schemas.microsoft.com/office/drawing/2014/main" id="{8FA064CF-8E5C-B056-B35E-24A011E92184}"/>
              </a:ext>
            </a:extLst>
          </p:cNvPr>
          <p:cNvSpPr/>
          <p:nvPr/>
        </p:nvSpPr>
        <p:spPr>
          <a:xfrm>
            <a:off x="200692" y="3130750"/>
            <a:ext cx="2138099" cy="1788216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Optuna</a:t>
            </a:r>
            <a:r>
              <a:rPr lang="th-TH" sz="1200" b="1" dirty="0">
                <a:solidFill>
                  <a:srgbClr val="0070C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(TPE Sampler)</a:t>
            </a:r>
            <a:br>
              <a:rPr lang="en-US" sz="1200" b="1" dirty="0">
                <a:solidFill>
                  <a:srgbClr val="0070C0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b="1" dirty="0">
                <a:solidFill>
                  <a:srgbClr val="0070C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 10 trials, (1-fold only)</a:t>
            </a:r>
            <a:br>
              <a:rPr lang="th-TH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Dropout_rate</a:t>
            </a:r>
            <a:b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L2_Reg</a:t>
            </a:r>
            <a:b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Dense_units_1</a:t>
            </a:r>
            <a:b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Dense_units_2</a:t>
            </a:r>
            <a:b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Batch_size</a:t>
            </a:r>
            <a:b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Phase1_lr</a:t>
            </a:r>
            <a:b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Phase2_lr</a:t>
            </a:r>
          </a:p>
        </p:txBody>
      </p: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46B2F9A5-B96E-DAB2-D1DA-59FEFD558AC9}"/>
              </a:ext>
            </a:extLst>
          </p:cNvPr>
          <p:cNvCxnSpPr>
            <a:cxnSpLocks/>
            <a:stCxn id="254" idx="3"/>
            <a:endCxn id="22" idx="1"/>
          </p:cNvCxnSpPr>
          <p:nvPr/>
        </p:nvCxnSpPr>
        <p:spPr>
          <a:xfrm>
            <a:off x="2338791" y="4024858"/>
            <a:ext cx="42141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1" name="Connector: Elbow 340">
            <a:extLst>
              <a:ext uri="{FF2B5EF4-FFF2-40B4-BE49-F238E27FC236}">
                <a16:creationId xmlns:a16="http://schemas.microsoft.com/office/drawing/2014/main" id="{E6A51AAD-DC59-7BB2-AEDB-7E5B56BB434B}"/>
              </a:ext>
            </a:extLst>
          </p:cNvPr>
          <p:cNvCxnSpPr>
            <a:cxnSpLocks/>
            <a:stCxn id="8" idx="0"/>
          </p:cNvCxnSpPr>
          <p:nvPr/>
        </p:nvCxnSpPr>
        <p:spPr>
          <a:xfrm rot="5400000" flipH="1" flipV="1">
            <a:off x="936058" y="5194841"/>
            <a:ext cx="551749" cy="2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Arrow Connector 367">
            <a:extLst>
              <a:ext uri="{FF2B5EF4-FFF2-40B4-BE49-F238E27FC236}">
                <a16:creationId xmlns:a16="http://schemas.microsoft.com/office/drawing/2014/main" id="{40D92509-A897-9615-D051-E2E6D2D8E3B4}"/>
              </a:ext>
            </a:extLst>
          </p:cNvPr>
          <p:cNvCxnSpPr>
            <a:cxnSpLocks/>
          </p:cNvCxnSpPr>
          <p:nvPr/>
        </p:nvCxnSpPr>
        <p:spPr>
          <a:xfrm>
            <a:off x="6654127" y="1130726"/>
            <a:ext cx="40314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34031DD6-FFEE-9110-50B7-F60E4AFA91E3}"/>
              </a:ext>
            </a:extLst>
          </p:cNvPr>
          <p:cNvCxnSpPr>
            <a:cxnSpLocks/>
          </p:cNvCxnSpPr>
          <p:nvPr/>
        </p:nvCxnSpPr>
        <p:spPr>
          <a:xfrm flipV="1">
            <a:off x="8364594" y="1155268"/>
            <a:ext cx="585540" cy="1244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D9D7D51-D36F-5AAF-3DB3-BC3A733132CE}"/>
              </a:ext>
            </a:extLst>
          </p:cNvPr>
          <p:cNvSpPr/>
          <p:nvPr/>
        </p:nvSpPr>
        <p:spPr>
          <a:xfrm>
            <a:off x="2760210" y="3756448"/>
            <a:ext cx="1827630" cy="53682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5-fold CV with best hyperparameter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AB29D7-2D9E-7312-E59A-A671CC9765EF}"/>
              </a:ext>
            </a:extLst>
          </p:cNvPr>
          <p:cNvSpPr txBox="1"/>
          <p:nvPr/>
        </p:nvSpPr>
        <p:spPr>
          <a:xfrm>
            <a:off x="2850480" y="230737"/>
            <a:ext cx="3474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These average from results of 5-fold cv</a:t>
            </a:r>
            <a:endParaRPr lang="en-US" sz="1200" b="1" dirty="0">
              <a:solidFill>
                <a:srgbClr val="FF0000"/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825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7A5F70E-664A-98D9-CEE4-87CED74ECE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50"/>
          <a:stretch/>
        </p:blipFill>
        <p:spPr>
          <a:xfrm>
            <a:off x="0" y="2362200"/>
            <a:ext cx="12192000" cy="256298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88A4248-E330-8E32-2A09-606B9CBE52B3}"/>
              </a:ext>
            </a:extLst>
          </p:cNvPr>
          <p:cNvSpPr txBox="1"/>
          <p:nvPr/>
        </p:nvSpPr>
        <p:spPr>
          <a:xfrm>
            <a:off x="2916967" y="1777425"/>
            <a:ext cx="6358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Poppins" panose="00000800000000000000" pitchFamily="2" charset="0"/>
                <a:cs typeface="Poppins" panose="00000800000000000000" pitchFamily="2" charset="0"/>
              </a:rPr>
              <a:t>Baseline Model Architecture </a:t>
            </a:r>
          </a:p>
        </p:txBody>
      </p:sp>
    </p:spTree>
    <p:extLst>
      <p:ext uri="{BB962C8B-B14F-4D97-AF65-F5344CB8AC3E}">
        <p14:creationId xmlns:p14="http://schemas.microsoft.com/office/powerpoint/2010/main" val="3928834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166C546-4320-DB48-1C1F-FA5662650635}"/>
              </a:ext>
            </a:extLst>
          </p:cNvPr>
          <p:cNvSpPr>
            <a:spLocks/>
          </p:cNvSpPr>
          <p:nvPr/>
        </p:nvSpPr>
        <p:spPr>
          <a:xfrm>
            <a:off x="5375243" y="975761"/>
            <a:ext cx="3475273" cy="1555905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F04354-8B7D-B448-03C4-003E47CD55D4}"/>
              </a:ext>
            </a:extLst>
          </p:cNvPr>
          <p:cNvSpPr txBox="1"/>
          <p:nvPr/>
        </p:nvSpPr>
        <p:spPr>
          <a:xfrm>
            <a:off x="5293849" y="695154"/>
            <a:ext cx="3556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These average from results of 5-fold cv</a:t>
            </a:r>
            <a:endParaRPr lang="en-US" sz="1200" b="1" dirty="0">
              <a:solidFill>
                <a:srgbClr val="FF0000"/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DCDAE58-F066-0647-1C9C-1BA2FFA51BDF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2040163" y="3699475"/>
            <a:ext cx="1490521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B15B1171-252B-47F1-F099-9463350302DA}"/>
              </a:ext>
            </a:extLst>
          </p:cNvPr>
          <p:cNvSpPr/>
          <p:nvPr/>
        </p:nvSpPr>
        <p:spPr>
          <a:xfrm>
            <a:off x="584310" y="4521769"/>
            <a:ext cx="1315092" cy="1027415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6059DD-607C-DFCA-E0F6-25CE59EBDEB8}"/>
              </a:ext>
            </a:extLst>
          </p:cNvPr>
          <p:cNvSpPr/>
          <p:nvPr/>
        </p:nvSpPr>
        <p:spPr>
          <a:xfrm>
            <a:off x="546135" y="3431065"/>
            <a:ext cx="1494028" cy="53682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Train set 80%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3981B1-81C8-01B5-12DC-3BA0B93AC38F}"/>
              </a:ext>
            </a:extLst>
          </p:cNvPr>
          <p:cNvCxnSpPr>
            <a:cxnSpLocks/>
            <a:stCxn id="72" idx="3"/>
            <a:endCxn id="39" idx="1"/>
          </p:cNvCxnSpPr>
          <p:nvPr/>
        </p:nvCxnSpPr>
        <p:spPr>
          <a:xfrm>
            <a:off x="2235645" y="1762301"/>
            <a:ext cx="363063" cy="68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5A6BA5C-5583-E3A3-A9E0-CDB02E5343E5}"/>
              </a:ext>
            </a:extLst>
          </p:cNvPr>
          <p:cNvSpPr/>
          <p:nvPr/>
        </p:nvSpPr>
        <p:spPr>
          <a:xfrm>
            <a:off x="3493771" y="2937608"/>
            <a:ext cx="4990550" cy="17467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57B6E7-5C4F-F806-90FA-2999289DD111}"/>
              </a:ext>
            </a:extLst>
          </p:cNvPr>
          <p:cNvSpPr txBox="1"/>
          <p:nvPr/>
        </p:nvSpPr>
        <p:spPr>
          <a:xfrm>
            <a:off x="4544921" y="2583138"/>
            <a:ext cx="2986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Poppins" panose="00000800000000000000" pitchFamily="2" charset="0"/>
                <a:cs typeface="Poppins" panose="00000800000000000000" pitchFamily="2" charset="0"/>
              </a:rPr>
              <a:t>Handcrafted</a:t>
            </a:r>
            <a:r>
              <a:rPr lang="th-TH" sz="1400" b="1" dirty="0">
                <a:latin typeface="Poppins" panose="00000800000000000000" pitchFamily="2" charset="0"/>
                <a:cs typeface="Poppins" panose="00000800000000000000" pitchFamily="2" charset="0"/>
              </a:rPr>
              <a:t> </a:t>
            </a:r>
            <a:r>
              <a:rPr lang="en-US" sz="1400" b="1" dirty="0">
                <a:latin typeface="Poppins" panose="00000800000000000000" pitchFamily="2" charset="0"/>
                <a:cs typeface="Poppins" panose="00000800000000000000" pitchFamily="2" charset="0"/>
              </a:rPr>
              <a:t>Feature Extractor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23F81B-F3F5-EAA8-7BF7-B52072F44763}"/>
              </a:ext>
            </a:extLst>
          </p:cNvPr>
          <p:cNvSpPr txBox="1"/>
          <p:nvPr/>
        </p:nvSpPr>
        <p:spPr>
          <a:xfrm>
            <a:off x="3672974" y="3045374"/>
            <a:ext cx="47773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solidFill>
                  <a:srgbClr val="C00000"/>
                </a:solidFill>
                <a:effectLst/>
                <a:latin typeface="Poppins" panose="00000800000000000000" pitchFamily="2" charset="0"/>
                <a:cs typeface="Poppins" panose="00000800000000000000" pitchFamily="2" charset="0"/>
              </a:rPr>
              <a:t>Gray-Level Co-occurrence Matrix</a:t>
            </a:r>
            <a:r>
              <a:rPr lang="th-TH" sz="1200" b="1" i="0" dirty="0">
                <a:solidFill>
                  <a:srgbClr val="C00000"/>
                </a:solidFill>
                <a:effectLst/>
                <a:latin typeface="Poppins" panose="00000800000000000000" pitchFamily="2" charset="0"/>
              </a:rPr>
              <a:t> </a:t>
            </a:r>
            <a:r>
              <a:rPr lang="en-US" sz="1200" b="1" i="0" dirty="0">
                <a:solidFill>
                  <a:srgbClr val="C00000"/>
                </a:solidFill>
                <a:effectLst/>
                <a:latin typeface="Poppins" panose="00000800000000000000" pitchFamily="2" charset="0"/>
                <a:cs typeface="Poppins" panose="00000800000000000000" pitchFamily="2" charset="0"/>
              </a:rPr>
              <a:t>(</a:t>
            </a:r>
            <a:r>
              <a:rPr lang="en-US" sz="1200" b="1" dirty="0">
                <a:solidFill>
                  <a:srgbClr val="C0000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GLCM):</a:t>
            </a:r>
            <a:br>
              <a:rPr lang="th-TH" sz="1200" b="1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Contrast, Correlation, Energy and Homogeneity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4 properties x 4 angle (0, 45, 90 and 135) = 16 features</a:t>
            </a:r>
          </a:p>
          <a:p>
            <a:endParaRPr lang="en-US" sz="1200"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r>
              <a:rPr lang="en-US" sz="1200" b="1" i="0" dirty="0">
                <a:solidFill>
                  <a:srgbClr val="7030A0"/>
                </a:solidFill>
                <a:effectLst/>
                <a:latin typeface="Poppins" panose="00000800000000000000" pitchFamily="2" charset="0"/>
                <a:cs typeface="Poppins" panose="00000800000000000000" pitchFamily="2" charset="0"/>
              </a:rPr>
              <a:t>Histogram of Oriented Gradients (HOG):</a:t>
            </a:r>
            <a:br>
              <a:rPr lang="en-US" sz="1200" b="0" i="0" dirty="0">
                <a:effectLst/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b="0" i="0" dirty="0">
                <a:effectLst/>
                <a:latin typeface="Poppins" panose="00000800000000000000" pitchFamily="2" charset="0"/>
                <a:cs typeface="Poppins" panose="00000800000000000000" pitchFamily="2" charset="0"/>
              </a:rPr>
              <a:t>Gradient statistics computed from each cell of an 8×8 grid Mean, Std, Variance, Median, Max, Min, Skewness, Kurtosis </a:t>
            </a:r>
            <a:br>
              <a:rPr lang="th-TH" sz="1200" b="0" i="0" dirty="0">
                <a:effectLst/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b="0" i="0" dirty="0">
                <a:effectLst/>
                <a:latin typeface="Poppins" panose="00000800000000000000" pitchFamily="2" charset="0"/>
                <a:cs typeface="Poppins" panose="00000800000000000000" pitchFamily="2" charset="0"/>
              </a:rPr>
              <a:t>= 8 features</a:t>
            </a:r>
            <a:endParaRPr lang="en-US" sz="1200"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048D14A-2236-C159-D71B-EA2E15F8F53D}"/>
              </a:ext>
            </a:extLst>
          </p:cNvPr>
          <p:cNvSpPr/>
          <p:nvPr/>
        </p:nvSpPr>
        <p:spPr>
          <a:xfrm>
            <a:off x="2598708" y="1060343"/>
            <a:ext cx="2695141" cy="14052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130"/>
              </a:spcAft>
            </a:pPr>
            <a:br>
              <a:rPr lang="th-TH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Input: 24 features (GLCM + HOG)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Hidden Layer 1 (Tanh)</a:t>
            </a:r>
          </a:p>
          <a:p>
            <a:pPr>
              <a:spcAft>
                <a:spcPts val="130"/>
              </a:spcAft>
            </a:pP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Hidden Layer 2 (Tanh)</a:t>
            </a:r>
          </a:p>
          <a:p>
            <a:pPr>
              <a:spcAft>
                <a:spcPts val="130"/>
              </a:spcAft>
            </a:pP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Dense (1, Sigmoid)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1DE18D0-EED2-24E1-C11E-D831DA0710B0}"/>
              </a:ext>
            </a:extLst>
          </p:cNvPr>
          <p:cNvCxnSpPr>
            <a:cxnSpLocks/>
            <a:stCxn id="8" idx="0"/>
            <a:endCxn id="72" idx="2"/>
          </p:cNvCxnSpPr>
          <p:nvPr/>
        </p:nvCxnSpPr>
        <p:spPr>
          <a:xfrm flipV="1">
            <a:off x="1293149" y="2201126"/>
            <a:ext cx="0" cy="122993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C6860B1-23BA-83EA-147C-C363CB12F20A}"/>
              </a:ext>
            </a:extLst>
          </p:cNvPr>
          <p:cNvSpPr/>
          <p:nvPr/>
        </p:nvSpPr>
        <p:spPr>
          <a:xfrm>
            <a:off x="5633661" y="1323475"/>
            <a:ext cx="1390005" cy="883264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Average Threshold with Youden Index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5E7B1A9-9650-F9B8-2B41-3391664E112D}"/>
              </a:ext>
            </a:extLst>
          </p:cNvPr>
          <p:cNvCxnSpPr>
            <a:cxnSpLocks/>
            <a:stCxn id="52" idx="3"/>
            <a:endCxn id="59" idx="1"/>
          </p:cNvCxnSpPr>
          <p:nvPr/>
        </p:nvCxnSpPr>
        <p:spPr>
          <a:xfrm flipV="1">
            <a:off x="7023666" y="1762301"/>
            <a:ext cx="265812" cy="280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052D859-085D-C00B-2AC0-2F5C5F739C35}"/>
              </a:ext>
            </a:extLst>
          </p:cNvPr>
          <p:cNvSpPr/>
          <p:nvPr/>
        </p:nvSpPr>
        <p:spPr>
          <a:xfrm>
            <a:off x="7289478" y="1093619"/>
            <a:ext cx="1472463" cy="1337363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Re-train on Full train set 80%</a:t>
            </a:r>
          </a:p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(average stopping epoch)</a:t>
            </a:r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9A76CCAF-343E-3BF6-CFD8-7F1F9B7A7BD5}"/>
              </a:ext>
            </a:extLst>
          </p:cNvPr>
          <p:cNvCxnSpPr>
            <a:cxnSpLocks/>
            <a:stCxn id="4" idx="4"/>
            <a:endCxn id="15" idx="2"/>
          </p:cNvCxnSpPr>
          <p:nvPr/>
        </p:nvCxnSpPr>
        <p:spPr>
          <a:xfrm flipV="1">
            <a:off x="1899402" y="4684384"/>
            <a:ext cx="4089644" cy="351093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8E61C03-AEA3-0447-61CC-43FD0D4CD6BE}"/>
              </a:ext>
            </a:extLst>
          </p:cNvPr>
          <p:cNvCxnSpPr>
            <a:cxnSpLocks/>
          </p:cNvCxnSpPr>
          <p:nvPr/>
        </p:nvCxnSpPr>
        <p:spPr>
          <a:xfrm>
            <a:off x="3672974" y="3728387"/>
            <a:ext cx="4777301" cy="4454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31B528EC-6164-A49B-0E89-2B3B8827EB13}"/>
              </a:ext>
            </a:extLst>
          </p:cNvPr>
          <p:cNvSpPr/>
          <p:nvPr/>
        </p:nvSpPr>
        <p:spPr>
          <a:xfrm>
            <a:off x="350653" y="1323476"/>
            <a:ext cx="1884992" cy="87765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rgbClr val="0070C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GridSearchCV</a:t>
            </a:r>
            <a:r>
              <a:rPr lang="th-TH" sz="1200" b="1" dirty="0">
                <a:solidFill>
                  <a:srgbClr val="0070C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 </a:t>
            </a:r>
            <a:br>
              <a:rPr lang="th-TH" sz="1200" b="1" dirty="0">
                <a:solidFill>
                  <a:srgbClr val="0070C0"/>
                </a:solidFill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b="1" dirty="0">
                <a:solidFill>
                  <a:srgbClr val="0070C0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(5-fold CV)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Hidden_layer_sizes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alpha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1F79767-EC79-2001-55DD-346AA6C81D6C}"/>
              </a:ext>
            </a:extLst>
          </p:cNvPr>
          <p:cNvSpPr txBox="1"/>
          <p:nvPr/>
        </p:nvSpPr>
        <p:spPr>
          <a:xfrm>
            <a:off x="3228187" y="1157949"/>
            <a:ext cx="1631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MLP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3ECA18A9-9CA3-1C83-33FE-D68D66F00B29}"/>
              </a:ext>
            </a:extLst>
          </p:cNvPr>
          <p:cNvCxnSpPr>
            <a:cxnSpLocks/>
            <a:stCxn id="39" idx="3"/>
            <a:endCxn id="52" idx="1"/>
          </p:cNvCxnSpPr>
          <p:nvPr/>
        </p:nvCxnSpPr>
        <p:spPr>
          <a:xfrm>
            <a:off x="5293849" y="1762986"/>
            <a:ext cx="339812" cy="212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FB255CE3-2CA9-06E2-7116-7FEB137EE331}"/>
              </a:ext>
            </a:extLst>
          </p:cNvPr>
          <p:cNvSpPr/>
          <p:nvPr/>
        </p:nvSpPr>
        <p:spPr>
          <a:xfrm>
            <a:off x="9974842" y="2759258"/>
            <a:ext cx="2007699" cy="1402429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Performance Results:</a:t>
            </a:r>
            <a:b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Sensitivity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Specificity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AUC-ROC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PPV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NPV</a:t>
            </a:r>
            <a:b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</a:b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F1-Score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3C99D9A-AFBF-DD3B-F375-0CD496440F95}"/>
              </a:ext>
            </a:extLst>
          </p:cNvPr>
          <p:cNvSpPr txBox="1"/>
          <p:nvPr/>
        </p:nvSpPr>
        <p:spPr>
          <a:xfrm>
            <a:off x="6797041" y="5953931"/>
            <a:ext cx="5255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Poppins" panose="00000800000000000000" pitchFamily="2" charset="0"/>
                <a:cs typeface="Poppins" panose="00000800000000000000" pitchFamily="2" charset="0"/>
              </a:rPr>
              <a:t>Baseline Model Pipeline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F065972-AA4D-A698-0C52-D4C8A90D92DD}"/>
              </a:ext>
            </a:extLst>
          </p:cNvPr>
          <p:cNvSpPr txBox="1"/>
          <p:nvPr/>
        </p:nvSpPr>
        <p:spPr>
          <a:xfrm>
            <a:off x="139162" y="5589361"/>
            <a:ext cx="2286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Plantar Pressure images </a:t>
            </a:r>
          </a:p>
          <a:p>
            <a:pPr algn="ctr"/>
            <a:r>
              <a:rPr lang="en-US" sz="1200" b="1" dirty="0">
                <a:latin typeface="Poppins" panose="00000800000000000000" pitchFamily="2" charset="0"/>
                <a:cs typeface="Poppins" panose="00000800000000000000" pitchFamily="2" charset="0"/>
              </a:rPr>
              <a:t>Dataset </a:t>
            </a:r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0708BE88-4E55-CDC0-1041-EFDCE09C5FEA}"/>
              </a:ext>
            </a:extLst>
          </p:cNvPr>
          <p:cNvSpPr/>
          <p:nvPr/>
        </p:nvSpPr>
        <p:spPr>
          <a:xfrm>
            <a:off x="9071805" y="1498190"/>
            <a:ext cx="1232039" cy="52822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Test set 20%</a:t>
            </a:r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7BA43DB2-37A4-CCBF-6973-0295BC0CC1B0}"/>
              </a:ext>
            </a:extLst>
          </p:cNvPr>
          <p:cNvCxnSpPr>
            <a:cxnSpLocks/>
            <a:stCxn id="59" idx="3"/>
            <a:endCxn id="187" idx="1"/>
          </p:cNvCxnSpPr>
          <p:nvPr/>
        </p:nvCxnSpPr>
        <p:spPr>
          <a:xfrm flipV="1">
            <a:off x="8761941" y="1762300"/>
            <a:ext cx="309864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1" name="Connector: Elbow 240">
            <a:extLst>
              <a:ext uri="{FF2B5EF4-FFF2-40B4-BE49-F238E27FC236}">
                <a16:creationId xmlns:a16="http://schemas.microsoft.com/office/drawing/2014/main" id="{E9675513-0463-084D-C966-E3C5CEBB3D78}"/>
              </a:ext>
            </a:extLst>
          </p:cNvPr>
          <p:cNvCxnSpPr>
            <a:cxnSpLocks/>
            <a:stCxn id="187" idx="3"/>
            <a:endCxn id="147" idx="0"/>
          </p:cNvCxnSpPr>
          <p:nvPr/>
        </p:nvCxnSpPr>
        <p:spPr>
          <a:xfrm>
            <a:off x="10303844" y="1762300"/>
            <a:ext cx="674848" cy="996958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: Elbow 249">
            <a:extLst>
              <a:ext uri="{FF2B5EF4-FFF2-40B4-BE49-F238E27FC236}">
                <a16:creationId xmlns:a16="http://schemas.microsoft.com/office/drawing/2014/main" id="{EC23F7CD-1127-5D93-CD93-A5F636541BCA}"/>
              </a:ext>
            </a:extLst>
          </p:cNvPr>
          <p:cNvCxnSpPr>
            <a:cxnSpLocks/>
            <a:stCxn id="15" idx="3"/>
            <a:endCxn id="187" idx="2"/>
          </p:cNvCxnSpPr>
          <p:nvPr/>
        </p:nvCxnSpPr>
        <p:spPr>
          <a:xfrm flipV="1">
            <a:off x="8484321" y="2026410"/>
            <a:ext cx="1203504" cy="1784586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140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10211</TotalTime>
  <Words>608</Words>
  <Application>Microsoft Office PowerPoint</Application>
  <PresentationFormat>Widescreen</PresentationFormat>
  <Paragraphs>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Nhatthapong Pukdeeboon</dc:creator>
  <cp:lastModifiedBy>Nhatthapong Pukdeeboon</cp:lastModifiedBy>
  <cp:revision>7</cp:revision>
  <dcterms:created xsi:type="dcterms:W3CDTF">2026-04-30T08:47:51Z</dcterms:created>
  <dcterms:modified xsi:type="dcterms:W3CDTF">2026-05-11T02:37:20Z</dcterms:modified>
</cp:coreProperties>
</file>